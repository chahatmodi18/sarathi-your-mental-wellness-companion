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9" r:id="rId11"/>
    <p:sldId id="267" r:id="rId12"/>
    <p:sldId id="268" r:id="rId13"/>
    <p:sldId id="270" r:id="rId14"/>
    <p:sldId id="284" r:id="rId15"/>
    <p:sldId id="285" r:id="rId16"/>
    <p:sldId id="282" r:id="rId17"/>
    <p:sldId id="283" r:id="rId18"/>
    <p:sldId id="281" r:id="rId19"/>
    <p:sldId id="28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71CA26-DCA0-4180-A4AD-9587824A5349}" v="23" dt="2025-09-14T09:37:44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84232487_Detecting_Depression_in_Social_Media_with_NLP_Models_Trained_on_Journal_Entry_Data?utm_source=chatgpt.com" TargetMode="External"/><Relationship Id="rId2" Type="http://schemas.openxmlformats.org/officeDocument/2006/relationships/hyperlink" Target="https://www.sciencedirect.com/science/article/pii/S2772528625000238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Jhalak19y/MindLens_AI_Mental_Health_Analyzer?utm_source=chatgpt.com" TargetMode="External"/><Relationship Id="rId4" Type="http://schemas.openxmlformats.org/officeDocument/2006/relationships/hyperlink" Target="https://www.researchgate.net/publication/391802393_Sentiment_Analysis_for_Mental_Health_Challenges_and_Opportunities?utm_source=chatgpt.com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-archive.org/index.php/rars/preprint/view/1632?utm_source=chatgpt.com" TargetMode="External"/><Relationship Id="rId2" Type="http://schemas.openxmlformats.org/officeDocument/2006/relationships/hyperlink" Target="https://www.researchgate.net/publication/391802393_Sentiment_Analysis_for_Mental_Health_Challenges_and_Opportunities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Jhalak19y/MindLens_AI_Mental_Health_Analyzer" TargetMode="External"/><Relationship Id="rId5" Type="http://schemas.openxmlformats.org/officeDocument/2006/relationships/hyperlink" Target="https://en.wikipedia.org/wiki/Global_mental_health?utm_source=chatgpt.com" TargetMode="External"/><Relationship Id="rId4" Type="http://schemas.openxmlformats.org/officeDocument/2006/relationships/hyperlink" Target="https://www.researchgate.net/publication/384232487_Detecting_Depression_in_Social_Media_with_NLP_Models_Trained_on_Journal_Entry_Data?utm_source=chatgpt.com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6569"/>
            <a:ext cx="7772400" cy="1470025"/>
          </a:xfrm>
        </p:spPr>
        <p:txBody>
          <a:bodyPr/>
          <a:lstStyle/>
          <a:p>
            <a:r>
              <a:rPr dirty="0"/>
              <a:t>Mood Journal Analyzer with Geeta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2986268"/>
            <a:ext cx="6400800" cy="3188390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sz="2800" dirty="0"/>
              <a:t>A Full Stack Emotion-Aware Spiritual Companion</a:t>
            </a:r>
            <a:endParaRPr lang="en-IN" sz="2800" dirty="0"/>
          </a:p>
          <a:p>
            <a:pPr algn="r"/>
            <a:endParaRPr lang="en-IN" sz="2800" dirty="0"/>
          </a:p>
          <a:p>
            <a:pPr algn="r"/>
            <a:r>
              <a:rPr lang="en-US" sz="2800" b="1" i="1" dirty="0"/>
              <a:t>~ </a:t>
            </a:r>
            <a:r>
              <a:rPr lang="en-US" sz="2800" b="1" i="1" u="sng" dirty="0"/>
              <a:t>Blending Ancient Wisdom with Modern Wellness Technology for a Holistic, Offline Experience.</a:t>
            </a:r>
          </a:p>
          <a:p>
            <a:pPr algn="r"/>
            <a:endParaRPr sz="2800" b="1" i="1" u="sng" dirty="0"/>
          </a:p>
          <a:p>
            <a:pPr algn="r"/>
            <a:r>
              <a:rPr b="1" u="sng" dirty="0"/>
              <a:t>By Chahat Modi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0C4703-045F-38C8-95B5-BA15B48578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225" y="1435901"/>
            <a:ext cx="71775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individuals struggle to identify, track, and reflect on their emotional states in daily life.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journaling tools often lack personalization, cultural relevance, and engaging features.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engagement and limited emotional growth are common due to generic approaches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Crisis moments are often not detected in current tools.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There is a significant need for tools that offer specialized, culturally relevant support for specific user demographics, such as women's health.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Bhagavad Mood Journal provides a </a:t>
            </a:r>
            <a:r>
              <a:rPr lang="en-US" sz="1800" b="1" dirty="0"/>
              <a:t>personalized, offline, desktop-based</a:t>
            </a:r>
            <a:r>
              <a:rPr lang="en-US" sz="1800" dirty="0"/>
              <a:t> solution with </a:t>
            </a:r>
            <a:r>
              <a:rPr lang="en-US" sz="1800" b="1" dirty="0"/>
              <a:t>sentiment analysis, reframing, and Gita wisdom</a:t>
            </a:r>
            <a:r>
              <a:rPr lang="en-US" sz="18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9EFD-BE6F-B707-0B3B-A133096F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1188"/>
            <a:ext cx="8229600" cy="1143000"/>
          </a:xfrm>
        </p:spPr>
        <p:txBody>
          <a:bodyPr/>
          <a:lstStyle/>
          <a:p>
            <a:r>
              <a:rPr lang="en-IN" dirty="0"/>
              <a:t>Objectives / Goals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B1D5C9-9846-89F6-2462-13BE223398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3677" y="1304188"/>
            <a:ext cx="802312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-based desktop application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journaling.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TextBlob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classify mood from thoughts.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reframes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Bhagavad Gita shlokas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Feature for tracking a female's menstrual cycle, including symptoms, flow, and energy levels.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Implement a To-Do list with time-based reminders to help users manage tasks and regain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gamification (Spin Wheel)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motivation.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entries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(search, view, export to CSV).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functionality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local storage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mood statistics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user reflection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237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B1D3-A89D-245B-561D-261A4A16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7BB164-C5EE-270E-8927-15CB8DA367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583939"/>
            <a:ext cx="82295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600" b="1" dirty="0"/>
              <a:t>Frontend:</a:t>
            </a:r>
            <a:r>
              <a:rPr lang="en-IN" sz="1600" dirty="0"/>
              <a:t> </a:t>
            </a:r>
            <a:r>
              <a:rPr lang="en-US" sz="1600" dirty="0" err="1"/>
              <a:t>Tkinter</a:t>
            </a:r>
            <a:r>
              <a:rPr lang="en-US" sz="1600" dirty="0"/>
              <a:t> multi-frame UI with gradient themes, a dedicated period journal view, and a To-Do list frame.</a:t>
            </a: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600" b="1" dirty="0"/>
              <a:t>Backend:</a:t>
            </a:r>
            <a:r>
              <a:rPr lang="en-IN" sz="1600" dirty="0"/>
              <a:t> Python (OOP, regex-based crisis detection, reframing logic).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6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600" b="1" dirty="0"/>
              <a:t>NLP :</a:t>
            </a:r>
            <a:r>
              <a:rPr lang="en-IN" sz="1600" dirty="0"/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TextBlob</a:t>
            </a:r>
            <a:r>
              <a:rPr lang="en-US" altLang="en-US" sz="1600" dirty="0">
                <a:latin typeface="Arial" panose="020B0604020202020204" pitchFamily="34" charset="0"/>
              </a:rPr>
              <a:t> + mood keyword matching with sentence-level analysis for sarcasm and negation.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600" b="1" dirty="0"/>
              <a:t>Database:</a:t>
            </a:r>
            <a:r>
              <a:rPr lang="en-IN" sz="1600" dirty="0"/>
              <a:t> MySQL (users, journal entries, period logs).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600" b="1" dirty="0"/>
              <a:t>Visualization:</a:t>
            </a:r>
            <a:r>
              <a:rPr lang="en-IN" sz="1600" dirty="0"/>
              <a:t> </a:t>
            </a:r>
            <a:r>
              <a:rPr lang="en-US" sz="1600" dirty="0"/>
              <a:t>Matplotlib (mood statistics and period analytics).</a:t>
            </a: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600" b="1" dirty="0"/>
              <a:t>Data Export:</a:t>
            </a:r>
            <a:r>
              <a:rPr lang="en-IN" sz="1600" dirty="0"/>
              <a:t> C</a:t>
            </a:r>
            <a:r>
              <a:rPr lang="en-US" sz="1600" dirty="0"/>
              <a:t>SV export for both general and period-specific entries</a:t>
            </a: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600" b="1" dirty="0"/>
              <a:t>Gamification:</a:t>
            </a:r>
            <a:r>
              <a:rPr lang="en-IN" sz="1600" dirty="0"/>
              <a:t> </a:t>
            </a:r>
            <a:r>
              <a:rPr lang="en-US" sz="1600" dirty="0"/>
              <a:t>Spin Wheel with motivational messages that auto-save to the journal. </a:t>
            </a: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600" b="1" dirty="0"/>
              <a:t>Resources:</a:t>
            </a:r>
            <a:r>
              <a:rPr lang="en-IN" sz="1600" dirty="0"/>
              <a:t> </a:t>
            </a:r>
            <a:r>
              <a:rPr lang="en-US" sz="1600" dirty="0"/>
              <a:t>Self-care tips, facts, quotes, book suggestions, and user-submitted community resources.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0000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D206-8C1F-1CC3-E8A5-8BCC3918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F26A6A-1DB6-DD44-1DB6-50AF588EA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180" y="1650162"/>
            <a:ext cx="844564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UI/UX: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en-US" sz="1400" dirty="0" err="1"/>
              <a:t>kinter</a:t>
            </a:r>
            <a:r>
              <a:rPr lang="en-US" sz="1400" dirty="0"/>
              <a:t> with modular frames (Login, Journal, Entries, Export, Resources, Spin Wheel, Stats, Period Journal, To-Do Notes)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 err="1"/>
              <a:t>TextBlob</a:t>
            </a:r>
            <a:r>
              <a:rPr lang="en-US" sz="1400" dirty="0"/>
              <a:t> polarity + subjectivity with enhanced mood mapping for nuanced detection.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Crisis Detection: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sz="1400" dirty="0"/>
              <a:t>Immediate and prominent regex-based match for sensitive keywords to prioritize user safety.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400" b="1" dirty="0"/>
              <a:t>Reframing:</a:t>
            </a:r>
            <a:r>
              <a:rPr lang="en-IN" sz="1400" dirty="0"/>
              <a:t> Mood-specific &amp; thought-specific replacements.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b="1" dirty="0"/>
              <a:t>Shloka Mapping:</a:t>
            </a:r>
            <a:r>
              <a:rPr lang="en-US" sz="1400" dirty="0"/>
              <a:t> A dictionary mapping moods to specific Bhagavad Gita verses and their meanings.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b="1" dirty="0"/>
              <a:t>Period Tracking:</a:t>
            </a:r>
            <a:r>
              <a:rPr lang="en-US" sz="1400" dirty="0"/>
              <a:t> A dedicated logging interface for physical symptoms, flow, and energy levels.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b="1" dirty="0"/>
              <a:t>To-Do List:</a:t>
            </a:r>
            <a:r>
              <a:rPr lang="en-US" sz="1400" dirty="0"/>
              <a:t> Local text file storage with a background thread for reminder notifications.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b="1" dirty="0"/>
              <a:t>Database:</a:t>
            </a:r>
            <a:r>
              <a:rPr lang="en-US" sz="1400" dirty="0"/>
              <a:t> MySQL storage for user accounts, all journal entries, and resource submissions.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b="1" dirty="0"/>
              <a:t>Visualization:</a:t>
            </a:r>
            <a:r>
              <a:rPr lang="en-US" sz="1400" dirty="0"/>
              <a:t> Matplotlib Pie Charts for overall mood distribution and line graphs for period-related stats over time.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b="1" dirty="0"/>
              <a:t>Export:</a:t>
            </a:r>
            <a:r>
              <a:rPr lang="en-US" sz="1400" dirty="0"/>
              <a:t> CSV export for personal data backups. </a:t>
            </a:r>
          </a:p>
        </p:txBody>
      </p:sp>
    </p:spTree>
    <p:extLst>
      <p:ext uri="{BB962C8B-B14F-4D97-AF65-F5344CB8AC3E}">
        <p14:creationId xmlns:p14="http://schemas.microsoft.com/office/powerpoint/2010/main" val="266777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F32E-26DF-D104-DCD1-17DDCEA8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Timeline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1C842D0-14E0-4107-27F4-381EF4FBA2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0038" y="1531486"/>
            <a:ext cx="735452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Initial UI setup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core frame structure.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Weeks 2-3: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MySQL database integration for users and journal entries. Added core sentiment detection logic.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Integrated Bhagavad Gita shloka mapping and thought reframing logic.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the Spin Wheel gamification feature and built the comprehensive Resources page.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6: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mood statistics visualizations with Matplotlib and implemented the full CSV export functionality.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7 (Latest Phase):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the new Period Journal and To-Do list features. Refined crisis detection and reframing.</a:t>
            </a:r>
          </a:p>
        </p:txBody>
      </p:sp>
    </p:spTree>
    <p:extLst>
      <p:ext uri="{BB962C8B-B14F-4D97-AF65-F5344CB8AC3E}">
        <p14:creationId xmlns:p14="http://schemas.microsoft.com/office/powerpoint/2010/main" val="2786807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79DF-268C-E2F2-23AD-7A4B120DD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40E8C1-2BAC-7ED1-2949-E6DA6C3645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8593" y="1918636"/>
            <a:ext cx="7806814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Developer: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 err="1"/>
              <a:t>Tkinter</a:t>
            </a:r>
            <a:r>
              <a:rPr lang="en-US" sz="1800" dirty="0"/>
              <a:t> UI, backend logic, and feature implementation (e.g., period tracking, to-do list).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Engineer: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</a:t>
            </a:r>
            <a:r>
              <a:rPr lang="en-US" sz="1800" dirty="0"/>
              <a:t>SQL setup and management of user and journal data.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 Engineer: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Sentiment analysis, mood detection, and reframing logic.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Designer: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Responsible for the user experience, including gradient backgrounds and frame layouts.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Conducts functional and usability testing across all new and existing features.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260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635C-F349-501F-B1A9-4469C5D44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40B12E-DC1E-BDF2-A76D-919797D634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6265" y="1711724"/>
            <a:ext cx="771147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functional and comprehensive offline desktop application for journaling.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mood detection and reframed thoughts.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Bhagavad Gita wisdom integrated into daily journaling.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Gamified engagement with Spin Wheel messages.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Holistic wellness tracking for both emotional and physical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Mood trend visualization for personal growth.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Exported data for offline storage or sharing. </a:t>
            </a:r>
          </a:p>
        </p:txBody>
      </p:sp>
    </p:spTree>
    <p:extLst>
      <p:ext uri="{BB962C8B-B14F-4D97-AF65-F5344CB8AC3E}">
        <p14:creationId xmlns:p14="http://schemas.microsoft.com/office/powerpoint/2010/main" val="129585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5DBC-BBD6-29DC-0A8E-C910D708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5CFF69-6102-4E07-B873-3BE8C8F4CD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697" y="1522752"/>
            <a:ext cx="762189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(UI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frames (Login, Register, Journal, Entries, Export, Spin Wheel, Resources, Stats, Period Journal, To-Do Notes).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Logic Layer: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classes managing Sentiment Analysis, Crisis Detection, Reframing, Shloka Mapping, Period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Tracking, and CSV Export.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Layer: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for user accounts, journal entries, and period logs.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Layer: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TextBlob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(NLP)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(Stats Visualization)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Module (Data Export)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tkinterPdfViewer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(PDF Reader)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4B32-9F22-B121-CD2B-FE31B2C1F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Journey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B0736E-DF6A-F311-CF03-285DA95F83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7700" y="1542469"/>
            <a:ext cx="694592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application → Login/Register.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thought → Submit.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 detects mood, shows shloka &amp; reframe.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Optionally, log period-related symptoms, energy, and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entry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→ Past Entries, Export, Mood Stats.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Spin Wheel for a motivational boost.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Resources (facts, tips, books, tailored suggestions). </a:t>
            </a:r>
          </a:p>
        </p:txBody>
      </p:sp>
    </p:spTree>
    <p:extLst>
      <p:ext uri="{BB962C8B-B14F-4D97-AF65-F5344CB8AC3E}">
        <p14:creationId xmlns:p14="http://schemas.microsoft.com/office/powerpoint/2010/main" val="149928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Mapping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0CFA8-B52D-B989-CB8D-6860F6CAE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11652"/>
            <a:ext cx="8077200" cy="4238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DDB52-3410-DE7B-F18E-536EFA3D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057"/>
            <a:ext cx="8229600" cy="38493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981"/>
            <a:ext cx="8229600" cy="1143000"/>
          </a:xfrm>
        </p:spPr>
        <p:txBody>
          <a:bodyPr/>
          <a:lstStyle/>
          <a:p>
            <a:r>
              <a:rPr dirty="0"/>
              <a:t>Future Scope (Phased Expansion)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DBA462-5084-B8B9-61DB-5777E39197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31986"/>
            <a:ext cx="845530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LLM-Powered Conversational Agent (Gemini):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a chatbot for real-time, empathetic, and interactive support. This will provide dynamic responses beyond the static reframes.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Mood Prediction: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 beyond simple polarity to advanced, context-aware mood detection using deep learning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Sync + Cross-Platform Integration: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Sync entries across devices for continuous tracking and clinician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Data Inputs: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voice/speech-based analysis for mood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Customizable Themes &amp; Accessibility Options: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 users to personalize the app's appearance.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Support with Categorization: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a Quora-like community forum where users can anonymously share and discuss life experiences, categorized by profession/student status, age, and physical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Wearables: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 mood and stress data from smartwatches for a more holistic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7E5C-FC93-49FD-A606-598BAC28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b="1" dirty="0"/>
              <a:t>Features from Research Tools (Not Yet in My App)</a:t>
            </a:r>
            <a:br>
              <a:rPr lang="en-IN" sz="2800" b="1" dirty="0"/>
            </a:br>
            <a:r>
              <a:rPr lang="en-IN" sz="2800" dirty="0"/>
              <a:t>(Enhancement ideas to expand scope)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4BD29-BE67-7C18-9041-1F5BCF6A4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Multimodal Data Inputs</a:t>
            </a:r>
            <a:endParaRPr lang="en-IN" dirty="0"/>
          </a:p>
          <a:p>
            <a:pPr lvl="1"/>
            <a:r>
              <a:rPr lang="en-IN" dirty="0"/>
              <a:t>Voice / speech analysis for mood detection (</a:t>
            </a:r>
            <a:r>
              <a:rPr lang="en-IN" dirty="0">
                <a:hlinkClick r:id="rId2"/>
              </a:rPr>
              <a:t>ScienceDirect 2025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Image-based emotion recognition (faces, expressions).</a:t>
            </a:r>
          </a:p>
          <a:p>
            <a:pPr lvl="1"/>
            <a:endParaRPr lang="en-IN" dirty="0"/>
          </a:p>
          <a:p>
            <a:r>
              <a:rPr lang="en-IN" b="1" dirty="0"/>
              <a:t>Deep Learning NLP Models</a:t>
            </a:r>
            <a:endParaRPr lang="en-IN" dirty="0"/>
          </a:p>
          <a:p>
            <a:pPr lvl="1"/>
            <a:r>
              <a:rPr lang="en-IN" dirty="0"/>
              <a:t>Depression detection using transformer-based models (BERT, </a:t>
            </a:r>
            <a:r>
              <a:rPr lang="en-IN" dirty="0" err="1"/>
              <a:t>RoBERTa</a:t>
            </a:r>
            <a:r>
              <a:rPr lang="en-IN" dirty="0"/>
              <a:t>) trained on </a:t>
            </a:r>
            <a:r>
              <a:rPr lang="en-IN" b="1" dirty="0"/>
              <a:t>journal-entry datasets</a:t>
            </a:r>
            <a:r>
              <a:rPr lang="en-IN" dirty="0"/>
              <a:t> (</a:t>
            </a:r>
            <a:r>
              <a:rPr lang="en-IN" dirty="0">
                <a:hlinkClick r:id="rId3"/>
              </a:rPr>
              <a:t>ResearchGate 2024</a:t>
            </a:r>
            <a:r>
              <a:rPr lang="en-IN" dirty="0"/>
              <a:t>).</a:t>
            </a:r>
          </a:p>
          <a:p>
            <a:pPr lvl="1"/>
            <a:endParaRPr lang="en-IN" dirty="0"/>
          </a:p>
          <a:p>
            <a:r>
              <a:rPr lang="en-IN" b="1" dirty="0"/>
              <a:t>Severity Scoring &amp; Early Warning</a:t>
            </a:r>
            <a:endParaRPr lang="en-IN" dirty="0"/>
          </a:p>
          <a:p>
            <a:pPr lvl="1"/>
            <a:r>
              <a:rPr lang="en-IN" dirty="0"/>
              <a:t>Assign “risk levels” (mild, moderate, severe) instead of just mood tags (</a:t>
            </a:r>
            <a:r>
              <a:rPr lang="en-IN" dirty="0">
                <a:hlinkClick r:id="rId4"/>
              </a:rPr>
              <a:t>Sentiment Analysis Challenges, 2023</a:t>
            </a:r>
            <a:r>
              <a:rPr lang="en-IN" dirty="0"/>
              <a:t>).</a:t>
            </a:r>
          </a:p>
          <a:p>
            <a:pPr lvl="1"/>
            <a:endParaRPr lang="en-IN" dirty="0"/>
          </a:p>
          <a:p>
            <a:r>
              <a:rPr lang="en-IN" b="1" dirty="0"/>
              <a:t>Conversational Agent (Chatbot)</a:t>
            </a:r>
            <a:endParaRPr lang="en-IN" dirty="0"/>
          </a:p>
          <a:p>
            <a:pPr lvl="1"/>
            <a:r>
              <a:rPr lang="en-IN" dirty="0" err="1"/>
              <a:t>MindLens</a:t>
            </a:r>
            <a:r>
              <a:rPr lang="en-IN" dirty="0"/>
              <a:t> AI integrates </a:t>
            </a:r>
            <a:r>
              <a:rPr lang="en-IN" b="1" dirty="0"/>
              <a:t>chat-like interactions</a:t>
            </a:r>
            <a:r>
              <a:rPr lang="en-IN" dirty="0"/>
              <a:t>, making the journaling more interactive (</a:t>
            </a:r>
            <a:r>
              <a:rPr lang="en-IN" dirty="0" err="1">
                <a:hlinkClick r:id="rId5"/>
              </a:rPr>
              <a:t>MindLens</a:t>
            </a:r>
            <a:r>
              <a:rPr lang="en-IN" dirty="0">
                <a:hlinkClick r:id="rId5"/>
              </a:rPr>
              <a:t> GitHub</a:t>
            </a:r>
            <a:r>
              <a:rPr lang="en-IN" dirty="0"/>
              <a:t>). </a:t>
            </a:r>
          </a:p>
          <a:p>
            <a:pPr lvl="1"/>
            <a:endParaRPr lang="en-IN" dirty="0"/>
          </a:p>
          <a:p>
            <a:r>
              <a:rPr lang="en-IN" b="1" dirty="0"/>
              <a:t>Cloud Integration</a:t>
            </a:r>
            <a:endParaRPr lang="en-IN" dirty="0"/>
          </a:p>
          <a:p>
            <a:pPr lvl="1"/>
            <a:r>
              <a:rPr lang="en-IN" dirty="0"/>
              <a:t>Sync entries across devices for continuous tracking &amp; clinician integration.</a:t>
            </a:r>
          </a:p>
          <a:p>
            <a:pPr lvl="1"/>
            <a:endParaRPr lang="en-IN" dirty="0"/>
          </a:p>
          <a:p>
            <a:r>
              <a:rPr lang="en-IN" b="1" dirty="0"/>
              <a:t>Community Support</a:t>
            </a:r>
            <a:endParaRPr lang="en-IN" dirty="0"/>
          </a:p>
          <a:p>
            <a:pPr lvl="1"/>
            <a:r>
              <a:rPr lang="en-IN" dirty="0"/>
              <a:t>Anonymized peer-sharing or supportive feedback (experimental in research prototypes).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623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6389-97AC-5D19-8DB1-56A0E008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They Enhance My Project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30C740-4575-A750-2721-A5EDE5C2BF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7645" y="1907522"/>
            <a:ext cx="810915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Moves app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rule-based (regex, keyword)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Expands beyond text-only journaling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 Symptom Tracking, voice, multimodal inputs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warning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mental health risks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1800" dirty="0">
                <a:latin typeface="Arial" panose="020B0604020202020204" pitchFamily="34" charset="0"/>
              </a:rPr>
              <a:t>Provides a safety-first approach with immediate, hardcoded crisis detection, then enhances engagement with an LLM for general conversation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interactivity &amp; engagement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(chatbot, community) &amp; Holistic Journaling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Strengthens long-term impact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cloud-based tracking &amp; integration with therapy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DF9C1B8-F9EB-66BC-ABEF-730C45426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860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E817-5F18-8528-6436-EA103AAF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Novelty &amp; Unique Selling Proposition (USP)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7871C-ABFB-6477-012C-8E3B3C50F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43732" cy="45259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3400" b="1" dirty="0"/>
              <a:t>Academic Context &amp; Gaps Addressed</a:t>
            </a:r>
          </a:p>
          <a:p>
            <a:endParaRPr lang="en-US" sz="3400" b="1" dirty="0"/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Broad Sentiment Analysis Limitations</a:t>
            </a:r>
            <a:br>
              <a:rPr lang="en-US" sz="3400" dirty="0"/>
            </a:br>
            <a:r>
              <a:rPr lang="en-US" sz="3400" dirty="0"/>
              <a:t>Research highlights challenges in applying generic sentiment analysis to mental health: detecting subtle emotional cues, understanding diverse linguistic contexts, and differentiating clinical states from ordinary mood variations </a:t>
            </a:r>
            <a:r>
              <a:rPr lang="en-US" sz="3400" dirty="0">
                <a:hlinkClick r:id="rId2"/>
              </a:rPr>
              <a:t>ResearchGate</a:t>
            </a:r>
            <a:r>
              <a:rPr lang="en-US" sz="34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3400" dirty="0"/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Social Media vs. Private Journaling</a:t>
            </a:r>
            <a:br>
              <a:rPr lang="en-US" sz="3400" dirty="0"/>
            </a:br>
            <a:r>
              <a:rPr lang="en-US" sz="3400" dirty="0"/>
              <a:t>Studies show NLP models trained on journal entries more accurately detect depressive patterns, compared to social media data </a:t>
            </a:r>
            <a:r>
              <a:rPr lang="en-US" sz="3400" dirty="0">
                <a:hlinkClick r:id="rId3"/>
              </a:rPr>
              <a:t>research-</a:t>
            </a:r>
            <a:r>
              <a:rPr lang="en-US" sz="3400" dirty="0" err="1">
                <a:hlinkClick r:id="rId3"/>
              </a:rPr>
              <a:t>archive.org</a:t>
            </a:r>
            <a:r>
              <a:rPr lang="en-US" sz="3400" dirty="0" err="1">
                <a:hlinkClick r:id="rId4"/>
              </a:rPr>
              <a:t>ResearchGate</a:t>
            </a:r>
            <a:r>
              <a:rPr lang="en-US" sz="34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3400" dirty="0"/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Treatment Gaps in LMICs</a:t>
            </a:r>
            <a:br>
              <a:rPr lang="en-US" sz="3400" dirty="0"/>
            </a:br>
            <a:r>
              <a:rPr lang="en-US" sz="3400" dirty="0"/>
              <a:t>Globally, 76–85% of individuals in low- and middle-income countries lack adequate mental health care—a gap digital tools can help bridge </a:t>
            </a:r>
            <a:r>
              <a:rPr lang="en-US" sz="3400" dirty="0">
                <a:hlinkClick r:id="rId5"/>
              </a:rPr>
              <a:t>Wikipedia</a:t>
            </a:r>
            <a:r>
              <a:rPr lang="en-US" sz="34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3400" dirty="0"/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Tool Limitations in Existing Projects</a:t>
            </a:r>
            <a:br>
              <a:rPr lang="en-US" sz="3400" dirty="0"/>
            </a:br>
            <a:r>
              <a:rPr lang="en-US" sz="3400" i="1" dirty="0" err="1"/>
              <a:t>MindLens</a:t>
            </a:r>
            <a:r>
              <a:rPr lang="en-US" sz="3400" i="1" dirty="0"/>
              <a:t> AI</a:t>
            </a:r>
            <a:r>
              <a:rPr lang="en-US" sz="3400" dirty="0"/>
              <a:t> analyzes mood from general text inputs, but lacks reframing mechanisms or integration of culturally resonant spiritual elements </a:t>
            </a:r>
            <a:r>
              <a:rPr lang="en-US" sz="3400" dirty="0">
                <a:hlinkClick r:id="rId6"/>
              </a:rPr>
              <a:t>GitHub</a:t>
            </a:r>
            <a:r>
              <a:rPr lang="en-US" sz="3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564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941-9DB4-6CBE-DAB2-07C6563A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My Project’s Distinctive Advantage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B56E11-7F64-F258-53A3-05366C756F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197719"/>
            <a:ext cx="832195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Culturally Tailored Sentiment Analysis: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general tools, your app contextualizes emotional states via Bhagavad Gita shlokas—offering spiritually and culturally meaningful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Offline, Desktop-Based Accessibility: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Operates without internet—ideal for users in low-connectivity settings or with privacy concerns.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 Reframing + Crisis Detection: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Beyond classification, your app actively reframes negative thoughts into uplifting perspectives. It also includes regex-based crisis detection for immediate user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Gamified Engagement with Spin Wheel: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Adds motivational flair to journaling via gamification—not commonly found in academic or commercial counterparts.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Mood Visualization &amp; Export: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users to reflect on emotional trends via charts and preserves data with export capability—a combination of introspection and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Holistic, Offline Mental Wellness Tool: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Blends traditional wisdom, offline usability, and interactive features into a self-contained nurturing journal, addressing both emotional and cultural dimensions.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651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5A55-074B-01FC-CA3C-BC27D24E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Interdisciplinary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4C92-FF3C-FE85-D484-C721204DA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Haptic Feedback Simulation (Electronics + CSE)</a:t>
            </a:r>
          </a:p>
          <a:p>
            <a:r>
              <a:rPr lang="en-US" dirty="0"/>
              <a:t>🔹 </a:t>
            </a:r>
            <a:r>
              <a:rPr lang="en-US" b="1" dirty="0"/>
              <a:t>What it means:</a:t>
            </a:r>
            <a:endParaRPr lang="en-US" dirty="0"/>
          </a:p>
          <a:p>
            <a:r>
              <a:rPr lang="en-US" b="1" dirty="0"/>
              <a:t>Haptic feedback</a:t>
            </a:r>
            <a:r>
              <a:rPr lang="en-US" dirty="0"/>
              <a:t> = “touch-based responses” (like vibration when your phone receives a notification).</a:t>
            </a:r>
          </a:p>
          <a:p>
            <a:r>
              <a:rPr lang="en-US" dirty="0"/>
              <a:t>In your project, haptic feedback could be simulated to give users a </a:t>
            </a:r>
            <a:r>
              <a:rPr lang="en-US" b="1" dirty="0"/>
              <a:t>physical sense of reassurance or positivity</a:t>
            </a:r>
            <a:r>
              <a:rPr lang="en-US" dirty="0"/>
              <a:t> when certain moods are detected.</a:t>
            </a:r>
          </a:p>
          <a:p>
            <a:r>
              <a:rPr lang="en-US" dirty="0"/>
              <a:t>🔹 </a:t>
            </a:r>
            <a:r>
              <a:rPr lang="en-US" b="1" dirty="0"/>
              <a:t>How to simulate as a student:</a:t>
            </a:r>
            <a:endParaRPr lang="en-US" dirty="0"/>
          </a:p>
          <a:p>
            <a:r>
              <a:rPr lang="en-US" dirty="0"/>
              <a:t>Instead of real vibration motors, you can: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Unity, MATLAB, or Python game libraries (like </a:t>
            </a:r>
            <a:r>
              <a:rPr lang="en-US" b="1" dirty="0" err="1"/>
              <a:t>Pygame</a:t>
            </a:r>
            <a:r>
              <a:rPr lang="en-US" b="1" dirty="0"/>
              <a:t>)</a:t>
            </a:r>
            <a:r>
              <a:rPr lang="en-US" dirty="0"/>
              <a:t> to simulate the </a:t>
            </a:r>
            <a:r>
              <a:rPr lang="en-US" i="1" dirty="0"/>
              <a:t>effect</a:t>
            </a:r>
            <a:r>
              <a:rPr lang="en-US" dirty="0"/>
              <a:t> (visual shake + sound → representing vibration).</a:t>
            </a:r>
          </a:p>
          <a:p>
            <a:pPr lvl="1"/>
            <a:r>
              <a:rPr lang="en-US" dirty="0"/>
              <a:t>Generate vibration patterns as </a:t>
            </a:r>
            <a:r>
              <a:rPr lang="en-US" b="1" dirty="0"/>
              <a:t>waveforms</a:t>
            </a:r>
            <a:r>
              <a:rPr lang="en-US" dirty="0"/>
              <a:t> (using Python + matplotlib) → show how a motor would behave.</a:t>
            </a:r>
          </a:p>
          <a:p>
            <a:pPr lvl="1"/>
            <a:r>
              <a:rPr lang="en-US" dirty="0"/>
              <a:t>In advanced setups, connect an </a:t>
            </a:r>
            <a:r>
              <a:rPr lang="en-US" b="1" dirty="0"/>
              <a:t>Arduino simulation in Proteus</a:t>
            </a:r>
            <a:r>
              <a:rPr lang="en-US" dirty="0"/>
              <a:t> to demonstrate how a vibration motor would activate on “negative mood detected.”</a:t>
            </a:r>
          </a:p>
          <a:p>
            <a:r>
              <a:rPr lang="en-US" dirty="0"/>
              <a:t>🔹 </a:t>
            </a:r>
            <a:r>
              <a:rPr lang="en-US" b="1" dirty="0"/>
              <a:t>Example for your app:</a:t>
            </a:r>
            <a:endParaRPr lang="en-US" dirty="0"/>
          </a:p>
          <a:p>
            <a:r>
              <a:rPr lang="en-US" dirty="0"/>
              <a:t>If mood = </a:t>
            </a:r>
            <a:r>
              <a:rPr lang="en-US" i="1" dirty="0"/>
              <a:t>Sad</a:t>
            </a:r>
            <a:r>
              <a:rPr lang="en-US" dirty="0"/>
              <a:t> → simulate a short vibration + display a positive shloka.</a:t>
            </a:r>
          </a:p>
          <a:p>
            <a:r>
              <a:rPr lang="en-US" dirty="0"/>
              <a:t>If mood = </a:t>
            </a:r>
            <a:r>
              <a:rPr lang="en-US" i="1" dirty="0"/>
              <a:t>Happy</a:t>
            </a:r>
            <a:r>
              <a:rPr lang="en-US" dirty="0"/>
              <a:t> → simulate a lighter, playful buzz.</a:t>
            </a:r>
          </a:p>
          <a:p>
            <a:r>
              <a:rPr lang="en-US" dirty="0"/>
              <a:t>🔹 </a:t>
            </a:r>
            <a:r>
              <a:rPr lang="en-US" b="1" dirty="0"/>
              <a:t>Why it’s useful:</a:t>
            </a:r>
            <a:endParaRPr lang="en-US" dirty="0"/>
          </a:p>
          <a:p>
            <a:r>
              <a:rPr lang="en-US" dirty="0"/>
              <a:t>Adds </a:t>
            </a:r>
            <a:r>
              <a:rPr lang="en-US" b="1" dirty="0"/>
              <a:t>multi-sensory engagement</a:t>
            </a:r>
            <a:r>
              <a:rPr lang="en-US" dirty="0"/>
              <a:t> → beyond just visual text.</a:t>
            </a:r>
          </a:p>
          <a:p>
            <a:r>
              <a:rPr lang="en-US" dirty="0"/>
              <a:t>Can be demoed </a:t>
            </a:r>
            <a:r>
              <a:rPr lang="en-US" b="1" dirty="0"/>
              <a:t>without hardware</a:t>
            </a:r>
            <a:r>
              <a:rPr lang="en-US" dirty="0"/>
              <a:t> using software simulations.</a:t>
            </a:r>
          </a:p>
          <a:p>
            <a:r>
              <a:rPr lang="en-US" dirty="0"/>
              <a:t>Makes your project look like a </a:t>
            </a:r>
            <a:r>
              <a:rPr lang="en-US" b="1" dirty="0"/>
              <a:t>cyber-physical wellness system</a:t>
            </a:r>
            <a:r>
              <a:rPr lang="en-US" dirty="0"/>
              <a:t> (touch + sight + software).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462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D091-C7EB-A8E8-ED41-EB44C574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Interdisciplinary Scope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A8F625-B6EC-4D9A-A374-F6F849BFB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79" y="1439495"/>
            <a:ext cx="857684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 in practice: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project’s architecture considers how a physical, desktop-based journaling device would function, with a simulated "physical journal console, buttons, or a Spin Wheel".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software simulates a mechanical response. The mood-based color transition mimics a "haptic feedback" system, giving users a "physical sense of reassurance or positivity".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demonstrates how principles of "Computer-Aided Design (CAD)" and physical interface design are applied to software to create a more immersive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it’s useful: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adds a multi-sensory component to the journaling process, making it more engaging and effective.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you to pitch the app as a concept for ergonomic devices or wellness kiosks, showing "interdisciplinary collaboration between Mech (3D modeling), CSE (UI logic), and Electronics (sensors)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953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1954</Words>
  <Application>Microsoft Office PowerPoint</Application>
  <PresentationFormat>On-screen Show (4:3)</PresentationFormat>
  <Paragraphs>236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Unicode MS</vt:lpstr>
      <vt:lpstr>Calibri</vt:lpstr>
      <vt:lpstr>Office Theme</vt:lpstr>
      <vt:lpstr>Mood Journal Analyzer with Geeta Integration</vt:lpstr>
      <vt:lpstr>Problem Statement</vt:lpstr>
      <vt:lpstr>Objectives / Goals</vt:lpstr>
      <vt:lpstr>Scope</vt:lpstr>
      <vt:lpstr>Methodology</vt:lpstr>
      <vt:lpstr>Timeline</vt:lpstr>
      <vt:lpstr>Roles</vt:lpstr>
      <vt:lpstr>Expected Outcomes</vt:lpstr>
      <vt:lpstr>System Architecture</vt:lpstr>
      <vt:lpstr>User Journey</vt:lpstr>
      <vt:lpstr>Feature Mapping</vt:lpstr>
      <vt:lpstr>Tech Stack</vt:lpstr>
      <vt:lpstr>Future Scope (Phased Expansion)</vt:lpstr>
      <vt:lpstr>Features from Research Tools (Not Yet in My App) (Enhancement ideas to expand scope) </vt:lpstr>
      <vt:lpstr>How They Enhance My Project</vt:lpstr>
      <vt:lpstr>Novelty &amp; Unique Selling Proposition (USP)</vt:lpstr>
      <vt:lpstr>My Project’s Distinctive Advantage</vt:lpstr>
      <vt:lpstr>Interdisciplinary Scope</vt:lpstr>
      <vt:lpstr>Interdisciplinary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Chahat Modi</cp:lastModifiedBy>
  <cp:revision>4</cp:revision>
  <dcterms:created xsi:type="dcterms:W3CDTF">2013-01-27T09:14:16Z</dcterms:created>
  <dcterms:modified xsi:type="dcterms:W3CDTF">2025-09-14T09:59:49Z</dcterms:modified>
  <cp:category/>
</cp:coreProperties>
</file>